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63" r:id="rId12"/>
    <p:sldId id="264" r:id="rId13"/>
    <p:sldId id="265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4" r:id="rId24"/>
    <p:sldId id="282" r:id="rId25"/>
    <p:sldId id="283" r:id="rId26"/>
    <p:sldId id="266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67" r:id="rId38"/>
    <p:sldId id="268" r:id="rId39"/>
    <p:sldId id="26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YADEEP BHATTACHARYYA" userId="692cc42ceafa2694" providerId="LiveId" clId="{25D365ED-1DDE-4047-8180-82E20151E455}"/>
    <pc:docChg chg="undo custSel addSld modSld">
      <pc:chgData name="SOUMYADEEP BHATTACHARYYA" userId="692cc42ceafa2694" providerId="LiveId" clId="{25D365ED-1DDE-4047-8180-82E20151E455}" dt="2025-12-16T12:45:53.162" v="61" actId="207"/>
      <pc:docMkLst>
        <pc:docMk/>
      </pc:docMkLst>
      <pc:sldChg chg="modSp mod">
        <pc:chgData name="SOUMYADEEP BHATTACHARYYA" userId="692cc42ceafa2694" providerId="LiveId" clId="{25D365ED-1DDE-4047-8180-82E20151E455}" dt="2025-12-16T12:37:47.893" v="6" actId="207"/>
        <pc:sldMkLst>
          <pc:docMk/>
          <pc:sldMk cId="0" sldId="266"/>
        </pc:sldMkLst>
        <pc:spChg chg="mod">
          <ac:chgData name="SOUMYADEEP BHATTACHARYYA" userId="692cc42ceafa2694" providerId="LiveId" clId="{25D365ED-1DDE-4047-8180-82E20151E455}" dt="2025-12-16T12:37:47.893" v="6" actId="207"/>
          <ac:spMkLst>
            <pc:docMk/>
            <pc:sldMk cId="0" sldId="266"/>
            <ac:spMk id="3" creationId="{00000000-0000-0000-0000-000000000000}"/>
          </ac:spMkLst>
        </pc:spChg>
      </pc:sldChg>
      <pc:sldChg chg="modSp add mod">
        <pc:chgData name="SOUMYADEEP BHATTACHARYYA" userId="692cc42ceafa2694" providerId="LiveId" clId="{25D365ED-1DDE-4047-8180-82E20151E455}" dt="2025-12-16T12:38:29.332" v="10" actId="207"/>
        <pc:sldMkLst>
          <pc:docMk/>
          <pc:sldMk cId="3364437937" sldId="285"/>
        </pc:sldMkLst>
        <pc:spChg chg="mod">
          <ac:chgData name="SOUMYADEEP BHATTACHARYYA" userId="692cc42ceafa2694" providerId="LiveId" clId="{25D365ED-1DDE-4047-8180-82E20151E455}" dt="2025-12-16T12:38:29.332" v="10" actId="207"/>
          <ac:spMkLst>
            <pc:docMk/>
            <pc:sldMk cId="3364437937" sldId="285"/>
            <ac:spMk id="3" creationId="{11FA67F8-BC53-197A-14AD-22150698D227}"/>
          </ac:spMkLst>
        </pc:spChg>
      </pc:sldChg>
      <pc:sldChg chg="modSp add mod">
        <pc:chgData name="SOUMYADEEP BHATTACHARYYA" userId="692cc42ceafa2694" providerId="LiveId" clId="{25D365ED-1DDE-4047-8180-82E20151E455}" dt="2025-12-16T12:39:04.481" v="14" actId="207"/>
        <pc:sldMkLst>
          <pc:docMk/>
          <pc:sldMk cId="192045419" sldId="286"/>
        </pc:sldMkLst>
        <pc:spChg chg="mod">
          <ac:chgData name="SOUMYADEEP BHATTACHARYYA" userId="692cc42ceafa2694" providerId="LiveId" clId="{25D365ED-1DDE-4047-8180-82E20151E455}" dt="2025-12-16T12:39:04.481" v="14" actId="207"/>
          <ac:spMkLst>
            <pc:docMk/>
            <pc:sldMk cId="192045419" sldId="286"/>
            <ac:spMk id="3" creationId="{552EAD16-F9D2-364F-8434-25EDF2E96965}"/>
          </ac:spMkLst>
        </pc:spChg>
      </pc:sldChg>
      <pc:sldChg chg="modSp add mod">
        <pc:chgData name="SOUMYADEEP BHATTACHARYYA" userId="692cc42ceafa2694" providerId="LiveId" clId="{25D365ED-1DDE-4047-8180-82E20151E455}" dt="2025-12-16T12:40:09.571" v="18" actId="207"/>
        <pc:sldMkLst>
          <pc:docMk/>
          <pc:sldMk cId="3274974533" sldId="287"/>
        </pc:sldMkLst>
        <pc:spChg chg="mod">
          <ac:chgData name="SOUMYADEEP BHATTACHARYYA" userId="692cc42ceafa2694" providerId="LiveId" clId="{25D365ED-1DDE-4047-8180-82E20151E455}" dt="2025-12-16T12:40:09.571" v="18" actId="207"/>
          <ac:spMkLst>
            <pc:docMk/>
            <pc:sldMk cId="3274974533" sldId="287"/>
            <ac:spMk id="3" creationId="{5DAC15DE-C8E1-D371-94B6-72F638F68597}"/>
          </ac:spMkLst>
        </pc:spChg>
      </pc:sldChg>
      <pc:sldChg chg="modSp add mod">
        <pc:chgData name="SOUMYADEEP BHATTACHARYYA" userId="692cc42ceafa2694" providerId="LiveId" clId="{25D365ED-1DDE-4047-8180-82E20151E455}" dt="2025-12-16T12:40:50.023" v="22" actId="207"/>
        <pc:sldMkLst>
          <pc:docMk/>
          <pc:sldMk cId="339273204" sldId="288"/>
        </pc:sldMkLst>
        <pc:spChg chg="mod">
          <ac:chgData name="SOUMYADEEP BHATTACHARYYA" userId="692cc42ceafa2694" providerId="LiveId" clId="{25D365ED-1DDE-4047-8180-82E20151E455}" dt="2025-12-16T12:40:50.023" v="22" actId="207"/>
          <ac:spMkLst>
            <pc:docMk/>
            <pc:sldMk cId="339273204" sldId="288"/>
            <ac:spMk id="3" creationId="{4D2AA931-3AB7-D2DF-4A84-D0F59513238C}"/>
          </ac:spMkLst>
        </pc:spChg>
      </pc:sldChg>
      <pc:sldChg chg="modSp add mod">
        <pc:chgData name="SOUMYADEEP BHATTACHARYYA" userId="692cc42ceafa2694" providerId="LiveId" clId="{25D365ED-1DDE-4047-8180-82E20151E455}" dt="2025-12-16T12:41:34.165" v="26" actId="207"/>
        <pc:sldMkLst>
          <pc:docMk/>
          <pc:sldMk cId="240941716" sldId="289"/>
        </pc:sldMkLst>
        <pc:spChg chg="mod">
          <ac:chgData name="SOUMYADEEP BHATTACHARYYA" userId="692cc42ceafa2694" providerId="LiveId" clId="{25D365ED-1DDE-4047-8180-82E20151E455}" dt="2025-12-16T12:41:34.165" v="26" actId="207"/>
          <ac:spMkLst>
            <pc:docMk/>
            <pc:sldMk cId="240941716" sldId="289"/>
            <ac:spMk id="3" creationId="{6D390FF1-C6CC-B976-7A10-AFD5958C5081}"/>
          </ac:spMkLst>
        </pc:spChg>
      </pc:sldChg>
      <pc:sldChg chg="modSp add mod">
        <pc:chgData name="SOUMYADEEP BHATTACHARYYA" userId="692cc42ceafa2694" providerId="LiveId" clId="{25D365ED-1DDE-4047-8180-82E20151E455}" dt="2025-12-16T12:43:32.387" v="45" actId="207"/>
        <pc:sldMkLst>
          <pc:docMk/>
          <pc:sldMk cId="305076142" sldId="290"/>
        </pc:sldMkLst>
        <pc:spChg chg="mod">
          <ac:chgData name="SOUMYADEEP BHATTACHARYYA" userId="692cc42ceafa2694" providerId="LiveId" clId="{25D365ED-1DDE-4047-8180-82E20151E455}" dt="2025-12-16T12:42:43.375" v="42" actId="20577"/>
          <ac:spMkLst>
            <pc:docMk/>
            <pc:sldMk cId="305076142" sldId="290"/>
            <ac:spMk id="2" creationId="{BA073F7D-CFF7-7CEB-C5D4-11F7A330D528}"/>
          </ac:spMkLst>
        </pc:spChg>
        <pc:spChg chg="mod">
          <ac:chgData name="SOUMYADEEP BHATTACHARYYA" userId="692cc42ceafa2694" providerId="LiveId" clId="{25D365ED-1DDE-4047-8180-82E20151E455}" dt="2025-12-16T12:43:32.387" v="45" actId="207"/>
          <ac:spMkLst>
            <pc:docMk/>
            <pc:sldMk cId="305076142" sldId="290"/>
            <ac:spMk id="3" creationId="{0B16485E-6CD5-88A2-A8FD-B564F22619E8}"/>
          </ac:spMkLst>
        </pc:spChg>
      </pc:sldChg>
      <pc:sldChg chg="modSp add mod">
        <pc:chgData name="SOUMYADEEP BHATTACHARYYA" userId="692cc42ceafa2694" providerId="LiveId" clId="{25D365ED-1DDE-4047-8180-82E20151E455}" dt="2025-12-16T12:44:01.864" v="49" actId="207"/>
        <pc:sldMkLst>
          <pc:docMk/>
          <pc:sldMk cId="1125786922" sldId="291"/>
        </pc:sldMkLst>
        <pc:spChg chg="mod">
          <ac:chgData name="SOUMYADEEP BHATTACHARYYA" userId="692cc42ceafa2694" providerId="LiveId" clId="{25D365ED-1DDE-4047-8180-82E20151E455}" dt="2025-12-16T12:44:01.864" v="49" actId="207"/>
          <ac:spMkLst>
            <pc:docMk/>
            <pc:sldMk cId="1125786922" sldId="291"/>
            <ac:spMk id="3" creationId="{CAE605D4-AE77-BD1D-4119-F6A448BDD4F0}"/>
          </ac:spMkLst>
        </pc:spChg>
      </pc:sldChg>
      <pc:sldChg chg="modSp add mod">
        <pc:chgData name="SOUMYADEEP BHATTACHARYYA" userId="692cc42ceafa2694" providerId="LiveId" clId="{25D365ED-1DDE-4047-8180-82E20151E455}" dt="2025-12-16T12:44:40.315" v="53" actId="207"/>
        <pc:sldMkLst>
          <pc:docMk/>
          <pc:sldMk cId="1390268471" sldId="292"/>
        </pc:sldMkLst>
        <pc:spChg chg="mod">
          <ac:chgData name="SOUMYADEEP BHATTACHARYYA" userId="692cc42ceafa2694" providerId="LiveId" clId="{25D365ED-1DDE-4047-8180-82E20151E455}" dt="2025-12-16T12:44:40.315" v="53" actId="207"/>
          <ac:spMkLst>
            <pc:docMk/>
            <pc:sldMk cId="1390268471" sldId="292"/>
            <ac:spMk id="3" creationId="{C10FF70D-CFA1-075F-849B-1A81C9F3EF74}"/>
          </ac:spMkLst>
        </pc:spChg>
      </pc:sldChg>
      <pc:sldChg chg="modSp add mod">
        <pc:chgData name="SOUMYADEEP BHATTACHARYYA" userId="692cc42ceafa2694" providerId="LiveId" clId="{25D365ED-1DDE-4047-8180-82E20151E455}" dt="2025-12-16T12:45:17.965" v="57" actId="207"/>
        <pc:sldMkLst>
          <pc:docMk/>
          <pc:sldMk cId="3049407267" sldId="293"/>
        </pc:sldMkLst>
        <pc:spChg chg="mod">
          <ac:chgData name="SOUMYADEEP BHATTACHARYYA" userId="692cc42ceafa2694" providerId="LiveId" clId="{25D365ED-1DDE-4047-8180-82E20151E455}" dt="2025-12-16T12:45:17.965" v="57" actId="207"/>
          <ac:spMkLst>
            <pc:docMk/>
            <pc:sldMk cId="3049407267" sldId="293"/>
            <ac:spMk id="3" creationId="{277A0B0D-D3DD-8F1A-01A9-DE8F5C52C3DE}"/>
          </ac:spMkLst>
        </pc:spChg>
      </pc:sldChg>
      <pc:sldChg chg="modSp add mod">
        <pc:chgData name="SOUMYADEEP BHATTACHARYYA" userId="692cc42ceafa2694" providerId="LiveId" clId="{25D365ED-1DDE-4047-8180-82E20151E455}" dt="2025-12-16T12:45:53.162" v="61" actId="207"/>
        <pc:sldMkLst>
          <pc:docMk/>
          <pc:sldMk cId="3348360058" sldId="294"/>
        </pc:sldMkLst>
        <pc:spChg chg="mod">
          <ac:chgData name="SOUMYADEEP BHATTACHARYYA" userId="692cc42ceafa2694" providerId="LiveId" clId="{25D365ED-1DDE-4047-8180-82E20151E455}" dt="2025-12-16T12:45:53.162" v="61" actId="207"/>
          <ac:spMkLst>
            <pc:docMk/>
            <pc:sldMk cId="3348360058" sldId="294"/>
            <ac:spMk id="3" creationId="{A2AB9EC3-B360-B8AD-0C18-FBA84073119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5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1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5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1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4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9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5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9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3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27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1453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76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72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97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3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8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97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2948" y="763741"/>
            <a:ext cx="7772400" cy="1470025"/>
          </a:xfrm>
        </p:spPr>
        <p:txBody>
          <a:bodyPr/>
          <a:lstStyle/>
          <a:p>
            <a:r>
              <a:rPr dirty="0"/>
              <a:t>Flood Risk Prediction</a:t>
            </a:r>
            <a:r>
              <a:rPr lang="en-IN" dirty="0"/>
              <a:t> (Week 6)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3290" y="2265721"/>
            <a:ext cx="8603226" cy="801944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Data Analytics Internship Project</a:t>
            </a:r>
          </a:p>
          <a:p>
            <a:r>
              <a:rPr dirty="0"/>
              <a:t>GNCIPL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4E201-BD12-456C-CB89-D595F1DF928E}"/>
              </a:ext>
            </a:extLst>
          </p:cNvPr>
          <p:cNvSpPr txBox="1"/>
          <p:nvPr/>
        </p:nvSpPr>
        <p:spPr>
          <a:xfrm>
            <a:off x="2364657" y="3429000"/>
            <a:ext cx="4748982" cy="2304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dirty="0"/>
              <a:t>Presented by 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Yogeshwaran N</a:t>
            </a:r>
            <a:endParaRPr lang="en-IN" sz="2000" dirty="0"/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err="1"/>
              <a:t>Soumyadeep</a:t>
            </a:r>
            <a:r>
              <a:rPr lang="en-IN" sz="2000" b="1" dirty="0"/>
              <a:t> Bhattacharyya</a:t>
            </a:r>
            <a:endParaRPr lang="en-IN" sz="2000" dirty="0"/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Ramkrishna Ghosh</a:t>
            </a:r>
            <a:endParaRPr lang="en-IN" sz="2000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209367"/>
          </a:xfrm>
        </p:spPr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8085028" cy="3695136"/>
          </a:xfrm>
        </p:spPr>
        <p:txBody>
          <a:bodyPr/>
          <a:lstStyle/>
          <a:p>
            <a:r>
              <a:rPr dirty="0"/>
              <a:t>Floods cause severe damage to life, infrastructure and economy.</a:t>
            </a:r>
          </a:p>
          <a:p>
            <a:r>
              <a:rPr dirty="0"/>
              <a:t>This project predicts flood risk using rainfall, river level and GIS data.</a:t>
            </a:r>
          </a:p>
          <a:p>
            <a:r>
              <a:rPr dirty="0"/>
              <a:t>End-to-end pipeline from data collection to dashboard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332" y="1777549"/>
            <a:ext cx="7765322" cy="3144530"/>
          </a:xfrm>
        </p:spPr>
        <p:txBody>
          <a:bodyPr/>
          <a:lstStyle/>
          <a:p>
            <a:r>
              <a:rPr dirty="0"/>
              <a:t>Analyze historical rainfall &amp; river data</a:t>
            </a:r>
          </a:p>
          <a:p>
            <a:r>
              <a:rPr dirty="0"/>
              <a:t>Predict flood occurrence &amp; severity</a:t>
            </a:r>
          </a:p>
          <a:p>
            <a:r>
              <a:rPr dirty="0"/>
              <a:t>Identify high-risk flood zones</a:t>
            </a:r>
          </a:p>
          <a:p>
            <a:r>
              <a:rPr dirty="0"/>
              <a:t>Develop interactive monitoring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18051"/>
            <a:ext cx="7765322" cy="3695136"/>
          </a:xfrm>
        </p:spPr>
        <p:txBody>
          <a:bodyPr/>
          <a:lstStyle/>
          <a:p>
            <a:r>
              <a:t>Rainfall &amp; river gauge data</a:t>
            </a:r>
          </a:p>
          <a:p>
            <a:r>
              <a:t>Meteorological parameters</a:t>
            </a:r>
          </a:p>
          <a:p>
            <a:r>
              <a:t>Topography &amp; elevation</a:t>
            </a:r>
          </a:p>
          <a:p>
            <a:r>
              <a:t>Land use &amp; soil texture</a:t>
            </a:r>
          </a:p>
          <a:p>
            <a:r>
              <a:t>Urban &amp; population indicators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 </a:t>
            </a:r>
            <a:r>
              <a:rPr lang="en-IN" dirty="0"/>
              <a:t>		</a:t>
            </a:r>
            <a:r>
              <a:rPr dirty="0"/>
              <a:t>– Data cleaning </a:t>
            </a:r>
            <a:endParaRPr lang="en-IN" dirty="0"/>
          </a:p>
          <a:p>
            <a:r>
              <a:rPr dirty="0"/>
              <a:t>Python </a:t>
            </a:r>
            <a:r>
              <a:rPr lang="en-IN" dirty="0"/>
              <a:t>	</a:t>
            </a:r>
            <a:r>
              <a:rPr dirty="0"/>
              <a:t>–</a:t>
            </a:r>
            <a:r>
              <a:rPr lang="en-IN" dirty="0"/>
              <a:t> ETL, </a:t>
            </a:r>
            <a:r>
              <a:rPr dirty="0"/>
              <a:t>EDA &amp; ML modeling</a:t>
            </a:r>
          </a:p>
          <a:p>
            <a:r>
              <a:rPr dirty="0"/>
              <a:t>GIS Libraries – Spatial analysis</a:t>
            </a:r>
          </a:p>
          <a:p>
            <a:r>
              <a:rPr dirty="0"/>
              <a:t>Tableau </a:t>
            </a:r>
            <a:r>
              <a:rPr lang="en-IN" dirty="0"/>
              <a:t>	</a:t>
            </a:r>
            <a:r>
              <a:rPr dirty="0"/>
              <a:t>– Interactive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ETL &amp; data integration</a:t>
            </a:r>
          </a:p>
          <a:p>
            <a:r>
              <a:rPr dirty="0"/>
              <a:t>Data cleaning &amp; preprocessing</a:t>
            </a:r>
          </a:p>
          <a:p>
            <a:r>
              <a:rPr dirty="0"/>
              <a:t>Feature engineering</a:t>
            </a:r>
          </a:p>
          <a:p>
            <a:r>
              <a:rPr dirty="0"/>
              <a:t>EDA &amp; GIS analysis</a:t>
            </a:r>
          </a:p>
          <a:p>
            <a:r>
              <a:rPr dirty="0"/>
              <a:t>Machine learning model</a:t>
            </a:r>
            <a:r>
              <a:rPr lang="en-IN" dirty="0"/>
              <a:t>l</a:t>
            </a:r>
            <a:r>
              <a:rPr dirty="0" err="1"/>
              <a:t>ing</a:t>
            </a:r>
            <a:endParaRPr lang="en-IN" dirty="0"/>
          </a:p>
          <a:p>
            <a:r>
              <a:rPr lang="en-IN" dirty="0"/>
              <a:t>Dashboard making in Tableau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47547"/>
            <a:ext cx="8092893" cy="3695136"/>
          </a:xfrm>
        </p:spPr>
        <p:txBody>
          <a:bodyPr/>
          <a:lstStyle/>
          <a:p>
            <a:r>
              <a:rPr lang="en-IN" b="1" dirty="0">
                <a:effectLst/>
              </a:rPr>
              <a:t>Rainfall over month			Monthly river level trend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E220F-96DA-526F-884B-683CB32DF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75" y="2508886"/>
            <a:ext cx="3470910" cy="2588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096224-02A4-6547-975F-524D5F1CA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382" y="2597849"/>
            <a:ext cx="3901857" cy="2499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6D5A-54E8-14FD-627C-87DB1F735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54" y="400986"/>
            <a:ext cx="8409886" cy="6304613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>
                <a:effectLst/>
              </a:rPr>
              <a:t>Top 8 cities based on both rainfall &amp; river level</a:t>
            </a:r>
          </a:p>
          <a:p>
            <a:pPr marL="0" indent="0" algn="ctr">
              <a:buNone/>
            </a:pPr>
            <a:endParaRPr lang="en-IN" b="1" dirty="0">
              <a:effectLst/>
            </a:endParaRPr>
          </a:p>
          <a:p>
            <a:pPr marL="0" indent="0" algn="ctr">
              <a:buNone/>
            </a:pPr>
            <a:endParaRPr lang="en-IN" b="1" dirty="0">
              <a:effectLst/>
            </a:endParaRPr>
          </a:p>
          <a:p>
            <a:pPr marL="0" indent="0" algn="ctr">
              <a:buNone/>
            </a:pPr>
            <a:endParaRPr lang="en-IN" b="1" dirty="0">
              <a:effectLst/>
            </a:endParaRPr>
          </a:p>
          <a:p>
            <a:pPr marL="0" indent="0" algn="ctr">
              <a:buNone/>
            </a:pPr>
            <a:endParaRPr lang="en-IN" b="1" dirty="0">
              <a:effectLst/>
            </a:endParaRPr>
          </a:p>
          <a:p>
            <a:pPr marL="0" indent="0" algn="ctr">
              <a:buNone/>
            </a:pPr>
            <a:endParaRPr lang="en-IN" b="1" dirty="0">
              <a:effectLst/>
            </a:endParaRPr>
          </a:p>
          <a:p>
            <a:pPr marL="0" indent="0" algn="ctr">
              <a:buNone/>
            </a:pPr>
            <a:r>
              <a:rPr lang="en-IN" b="1" dirty="0" err="1">
                <a:effectLst/>
              </a:rPr>
              <a:t>Avg</a:t>
            </a:r>
            <a:r>
              <a:rPr lang="en-IN" b="1" dirty="0">
                <a:effectLst/>
              </a:rPr>
              <a:t> Rainfall over Land class </a:t>
            </a:r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15696-4824-2E0D-9B63-2A8DD19851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" y="919925"/>
            <a:ext cx="3972560" cy="2238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A847E8-290F-0756-3A6C-CC84D6AAC2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856" y="873506"/>
            <a:ext cx="3916527" cy="2331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B1E4A8-5E4E-B7D6-DCAA-F177340735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094" y="3809001"/>
            <a:ext cx="4683811" cy="27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15832-0726-7518-C22B-01B08A106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251047"/>
            <a:ext cx="7765322" cy="4869338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>
                <a:effectLst/>
              </a:rPr>
              <a:t>Top 8 Cities comparing Rainfall &amp; River level</a:t>
            </a:r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E7C98-DC4D-9B70-C632-0B0852CBF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447" y="1855395"/>
            <a:ext cx="4028815" cy="31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7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3139-1EC2-3684-D9EA-BEDCE9104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082" y="401376"/>
            <a:ext cx="7765322" cy="3695136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>
                <a:effectLst/>
              </a:rPr>
              <a:t>Spatial Analysis and GIS Mapping</a:t>
            </a:r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744C1-3CC4-B614-AB52-82A4A89AD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37" y="1324737"/>
            <a:ext cx="5071110" cy="3135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6955A0-2B87-EDA4-4B0C-C8D0209E0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308" y="1194562"/>
            <a:ext cx="3538855" cy="339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08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transformation</a:t>
            </a:r>
          </a:p>
          <a:p>
            <a:r>
              <a:t>Lag &amp; rolling window features</a:t>
            </a:r>
          </a:p>
          <a:p>
            <a:r>
              <a:t>Urbanization indicators</a:t>
            </a:r>
          </a:p>
          <a:p>
            <a:r>
              <a:t>Temporal features &amp; encoding</a:t>
            </a:r>
          </a:p>
          <a:p>
            <a:r>
              <a:t>Train-test temporal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regression models</a:t>
            </a:r>
          </a:p>
          <a:p>
            <a:r>
              <a:rPr dirty="0"/>
              <a:t>River level &amp; flow rate prediction</a:t>
            </a:r>
          </a:p>
          <a:p>
            <a:r>
              <a:rPr dirty="0"/>
              <a:t>High accuracy with R² up to 0.998</a:t>
            </a:r>
          </a:p>
          <a:p>
            <a:r>
              <a:rPr dirty="0"/>
              <a:t>Severity score-based risk classification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6885493" cy="3695136"/>
          </a:xfrm>
        </p:spPr>
        <p:txBody>
          <a:bodyPr/>
          <a:lstStyle/>
          <a:p>
            <a:r>
              <a:rPr dirty="0"/>
              <a:t>Tableau KPIs &amp; flood trends</a:t>
            </a:r>
          </a:p>
          <a:p>
            <a:r>
              <a:rPr dirty="0"/>
              <a:t>City-wise &amp; temporal analysis</a:t>
            </a:r>
          </a:p>
          <a:p>
            <a:r>
              <a:rPr dirty="0"/>
              <a:t>GIS-based flood risk maps</a:t>
            </a:r>
          </a:p>
          <a:p>
            <a:r>
              <a:rPr dirty="0"/>
              <a:t>User-friendly filters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F2678-98C4-CBA1-7963-5FD0AFA8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CBB9-1D27-B71C-D3CC-19EBCD3B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Count Wise Risk Category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552C17-9C32-4EC5-E12E-158A75923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156" y="2095500"/>
            <a:ext cx="6102515" cy="4255074"/>
          </a:xfrm>
        </p:spPr>
      </p:pic>
    </p:spTree>
    <p:extLst>
      <p:ext uri="{BB962C8B-B14F-4D97-AF65-F5344CB8AC3E}">
        <p14:creationId xmlns:p14="http://schemas.microsoft.com/office/powerpoint/2010/main" val="1811484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C7FF-90B2-733C-F19F-DF7324B9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17C6-7C64-B4F3-8B6A-33645DAA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Count Wise Elevation Category</a:t>
            </a: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C7F80A-8221-7602-BFEA-BDC472771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369" y="2562224"/>
            <a:ext cx="4060850" cy="3762449"/>
          </a:xfrm>
        </p:spPr>
      </p:pic>
    </p:spTree>
    <p:extLst>
      <p:ext uri="{BB962C8B-B14F-4D97-AF65-F5344CB8AC3E}">
        <p14:creationId xmlns:p14="http://schemas.microsoft.com/office/powerpoint/2010/main" val="958076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B79C-EB23-DF3A-0603-43EFD3EB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1529-336E-D516-B74E-920F522D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Rainfall vs Flood Risk Level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DF5900-EE9F-E80E-F872-655150FF1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890685"/>
            <a:ext cx="7764463" cy="2635044"/>
          </a:xfrm>
        </p:spPr>
      </p:pic>
    </p:spTree>
    <p:extLst>
      <p:ext uri="{BB962C8B-B14F-4D97-AF65-F5344CB8AC3E}">
        <p14:creationId xmlns:p14="http://schemas.microsoft.com/office/powerpoint/2010/main" val="3041840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8B3E-917F-D0BD-E979-D399A952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74F2-B7BE-2AEA-8AC3-931C8AC3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Three-Day Cumulative Rainfall Distribution Across Top 5 High-Risk Cities 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BC48F3-17C6-EFC4-7EBC-8B3413167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890685"/>
            <a:ext cx="7764463" cy="263504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F42EF6-694F-5907-D235-371253396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05780"/>
            <a:ext cx="9144000" cy="48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50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4B54-5B75-1835-3CCC-CEE6EB4A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7DA8-EB95-3EAA-93DE-E60DA11E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Average Monthly Rainfall Trend by Flood Risk Category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C4C063-7B56-C121-73CC-3FF0D6881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890685"/>
            <a:ext cx="7764463" cy="263504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EB2134-C77F-0DA7-4994-6FEF1127B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0"/>
            <a:ext cx="9144000" cy="478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43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57AC-6B6E-32EB-4BED-09D52EFA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E32B-EB77-118F-EB4A-F1F58BDA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Landcover Class vs Flood Risk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AA8861-1951-AF30-FDB2-435905D93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991939"/>
            <a:ext cx="7126544" cy="449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29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CB48-8C76-B917-CC2F-51957D9E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ABD1-04D7-5630-D8BE-0EFF6355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High Flood Risk by Month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7153F-CCF2-E5C6-A3EE-BAB0F2428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6" y="2094272"/>
            <a:ext cx="8544232" cy="42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8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647F-79AF-1623-446C-31DC1497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4D83-6030-6B26-FCAC-80420B865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Date Wise Trend As Per Average Rainfall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42871-34A7-DF02-BC9F-47C4EC695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7" y="2269131"/>
            <a:ext cx="6550357" cy="38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9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6E44-1396-F8E9-4CC1-287106E7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CDA5-B611-B32A-CCE4-B3310E0D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Count of Days as per Rainfall Category(July Month)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5D224-42D4-53C8-2914-2FF35CC6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48" y="2111350"/>
            <a:ext cx="5388240" cy="378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47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BB52-D058-F266-F795-374B77DF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2C1D-16C2-B0B3-5A11-42EFAB72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Jan–Jun vs July Rainfall Comparison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7A996-BA87-5105-B385-318355DDE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7" y="2290762"/>
            <a:ext cx="5504791" cy="29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4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960F3-856D-52FD-36D7-204A4B35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2FAF-0A2E-F092-2196-CADBD247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Dashboard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96A281-30CC-EAC6-C244-384F6754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1" y="1916446"/>
            <a:ext cx="7982851" cy="433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79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D31E-965E-D7EC-1F86-777175D0E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3B76-9CC7-09D2-2873-AF4C2F8B6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Dashboard</a:t>
            </a:r>
            <a:endParaRPr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F73B412-B102-0912-FBFC-E6F37F62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23" y="1935922"/>
            <a:ext cx="7610168" cy="413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76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1️⃣ </a:t>
            </a:r>
            <a:r>
              <a:rPr lang="en-US" b="1" dirty="0">
                <a:solidFill>
                  <a:srgbClr val="FF0000"/>
                </a:solidFill>
              </a:rPr>
              <a:t>Flood Risk Category Distribution</a:t>
            </a:r>
          </a:p>
          <a:p>
            <a:r>
              <a:rPr lang="en-US" dirty="0"/>
              <a:t>The number of </a:t>
            </a:r>
            <a:r>
              <a:rPr lang="en-US" b="1" dirty="0"/>
              <a:t>High (192)</a:t>
            </a:r>
            <a:r>
              <a:rPr lang="en-US" dirty="0"/>
              <a:t> and </a:t>
            </a:r>
            <a:r>
              <a:rPr lang="en-US" b="1" dirty="0"/>
              <a:t>Medium (191)</a:t>
            </a:r>
            <a:r>
              <a:rPr lang="en-US" dirty="0"/>
              <a:t> risk locations is the highest.</a:t>
            </a:r>
          </a:p>
          <a:p>
            <a:r>
              <a:rPr lang="en-US" dirty="0"/>
              <a:t>Although </a:t>
            </a:r>
            <a:r>
              <a:rPr lang="en-US" b="1" dirty="0"/>
              <a:t>Very High risk (170)</a:t>
            </a:r>
            <a:r>
              <a:rPr lang="en-US" dirty="0"/>
              <a:t> locations are fewer in number, they represent the most critical zones.</a:t>
            </a:r>
          </a:p>
          <a:p>
            <a:r>
              <a:rPr lang="en-US" b="1" dirty="0"/>
              <a:t>Insight:</a:t>
            </a:r>
            <a:r>
              <a:rPr lang="en-US" dirty="0"/>
              <a:t> A large portion of the study area falls under </a:t>
            </a:r>
            <a:r>
              <a:rPr lang="en-US" b="1" dirty="0"/>
              <a:t>moderate to high flood vulnerability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FD82A-1BAD-3623-1C6B-97628E6A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9F94-D37D-5AA7-6383-2D0C0038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A67F8-BC53-197A-14AD-22150698D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2️⃣ </a:t>
            </a:r>
            <a:r>
              <a:rPr lang="en-US" b="1" dirty="0">
                <a:solidFill>
                  <a:srgbClr val="FF0000"/>
                </a:solidFill>
              </a:rPr>
              <a:t>Elevation vs Flood Risk</a:t>
            </a:r>
          </a:p>
          <a:p>
            <a:r>
              <a:rPr lang="en-US" b="1" dirty="0"/>
              <a:t>High and Very High flood risk</a:t>
            </a:r>
            <a:r>
              <a:rPr lang="en-US" dirty="0"/>
              <a:t> areas are mostly located at </a:t>
            </a:r>
            <a:r>
              <a:rPr lang="en-US" b="1" dirty="0"/>
              <a:t>lower elevations (≈ 832K–1,514K meters)</a:t>
            </a:r>
            <a:r>
              <a:rPr lang="en-US" dirty="0"/>
              <a:t>.</a:t>
            </a:r>
          </a:p>
          <a:p>
            <a:r>
              <a:rPr lang="en-US" b="1" dirty="0"/>
              <a:t>No Risk and Medium Risk</a:t>
            </a:r>
            <a:r>
              <a:rPr lang="en-US" dirty="0"/>
              <a:t> zones have comparatively higher average elevation.</a:t>
            </a:r>
          </a:p>
          <a:p>
            <a:r>
              <a:rPr lang="en-US" b="1" dirty="0"/>
              <a:t>Insight:</a:t>
            </a:r>
            <a:r>
              <a:rPr lang="en-US" dirty="0"/>
              <a:t> </a:t>
            </a:r>
            <a:r>
              <a:rPr lang="en-US" b="1" dirty="0"/>
              <a:t>Low-lying regions</a:t>
            </a:r>
            <a:r>
              <a:rPr lang="en-US" dirty="0"/>
              <a:t> are significantly more prone to flooding.</a:t>
            </a:r>
          </a:p>
        </p:txBody>
      </p:sp>
    </p:spTree>
    <p:extLst>
      <p:ext uri="{BB962C8B-B14F-4D97-AF65-F5344CB8AC3E}">
        <p14:creationId xmlns:p14="http://schemas.microsoft.com/office/powerpoint/2010/main" val="3364437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DE3F-35CC-8EAD-26C6-CF4AFE11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DBAC-6ACD-6C94-900A-A8E4EA3A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EAD16-F9D2-364F-8434-25EDF2E96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3️⃣ </a:t>
            </a:r>
            <a:r>
              <a:rPr lang="en-US" b="1" dirty="0">
                <a:solidFill>
                  <a:srgbClr val="FF0000"/>
                </a:solidFill>
              </a:rPr>
              <a:t>Monthly Rainfall Trend by Risk Category</a:t>
            </a:r>
          </a:p>
          <a:p>
            <a:r>
              <a:rPr lang="en-US" dirty="0"/>
              <a:t>Rainfall shows a sharp increase from </a:t>
            </a:r>
            <a:r>
              <a:rPr lang="en-US" b="1" dirty="0"/>
              <a:t>May to July</a:t>
            </a:r>
            <a:r>
              <a:rPr lang="en-US" dirty="0"/>
              <a:t> across all risk categories.</a:t>
            </a:r>
          </a:p>
          <a:p>
            <a:r>
              <a:rPr lang="en-US" b="1" dirty="0"/>
              <a:t>Peak rainfall occurs during June–July</a:t>
            </a:r>
            <a:r>
              <a:rPr lang="en-US" dirty="0"/>
              <a:t>, which strongly correlates with higher flood risk.</a:t>
            </a:r>
          </a:p>
          <a:p>
            <a:r>
              <a:rPr lang="en-US" b="1" dirty="0"/>
              <a:t>Insight:</a:t>
            </a:r>
            <a:r>
              <a:rPr lang="en-US" dirty="0"/>
              <a:t> The </a:t>
            </a:r>
            <a:r>
              <a:rPr lang="en-US" b="1" dirty="0"/>
              <a:t>monsoon season</a:t>
            </a:r>
            <a:r>
              <a:rPr lang="en-US" dirty="0"/>
              <a:t> is the primary trigger for flood events.</a:t>
            </a:r>
          </a:p>
        </p:txBody>
      </p:sp>
    </p:spTree>
    <p:extLst>
      <p:ext uri="{BB962C8B-B14F-4D97-AF65-F5344CB8AC3E}">
        <p14:creationId xmlns:p14="http://schemas.microsoft.com/office/powerpoint/2010/main" val="192045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FE65-67C5-B4F4-3E79-373805F2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25BA-7CAA-2154-97D3-FF952BBA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15DE-C8E1-D371-94B6-72F638F68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4️⃣ </a:t>
            </a:r>
            <a:r>
              <a:rPr lang="en-US" b="1" dirty="0">
                <a:solidFill>
                  <a:srgbClr val="FF0000"/>
                </a:solidFill>
              </a:rPr>
              <a:t>Jan–Jun vs July Rainfall Comparison</a:t>
            </a:r>
          </a:p>
          <a:p>
            <a:r>
              <a:rPr lang="en-US" b="1" dirty="0"/>
              <a:t>July alone records ~88K mm rainfall</a:t>
            </a:r>
            <a:r>
              <a:rPr lang="en-US" dirty="0"/>
              <a:t>, while </a:t>
            </a:r>
            <a:r>
              <a:rPr lang="en-US" b="1" dirty="0"/>
              <a:t>January–June together account for ~64.8K mm</a:t>
            </a:r>
            <a:r>
              <a:rPr lang="en-US" dirty="0"/>
              <a:t>.</a:t>
            </a:r>
          </a:p>
          <a:p>
            <a:r>
              <a:rPr lang="en-US" b="1" dirty="0"/>
              <a:t>Insight:</a:t>
            </a:r>
            <a:r>
              <a:rPr lang="en-US" dirty="0"/>
              <a:t> A single month contributes more rainfall than the first six months combined, increasing the likelihood of </a:t>
            </a:r>
            <a:r>
              <a:rPr lang="en-US" b="1" dirty="0"/>
              <a:t>flash floods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74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D3A0-167E-FA86-A9AD-24EE6747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A7A6-FFC5-13A4-1D39-837D98FD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A931-3AB7-D2DF-4A84-D0F595132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5️⃣ </a:t>
            </a:r>
            <a:r>
              <a:rPr lang="en-US" b="1" dirty="0">
                <a:solidFill>
                  <a:srgbClr val="FF0000"/>
                </a:solidFill>
              </a:rPr>
              <a:t>Impact of Landcover on Flood Risk</a:t>
            </a:r>
          </a:p>
          <a:p>
            <a:r>
              <a:rPr lang="en-US" b="1" dirty="0"/>
              <a:t>Forest and agricultural areas</a:t>
            </a:r>
            <a:r>
              <a:rPr lang="en-US" dirty="0"/>
              <a:t> show the </a:t>
            </a:r>
            <a:r>
              <a:rPr lang="en-US" b="1" dirty="0"/>
              <a:t>highest probability of high flood risk</a:t>
            </a:r>
            <a:r>
              <a:rPr lang="en-US" dirty="0"/>
              <a:t>.</a:t>
            </a:r>
          </a:p>
          <a:p>
            <a:r>
              <a:rPr lang="en-US" b="1" dirty="0"/>
              <a:t>Urban areas</a:t>
            </a:r>
            <a:r>
              <a:rPr lang="en-US" dirty="0"/>
              <a:t> also demonstrate significant risk due to drainage congestion and surface runoff.</a:t>
            </a:r>
          </a:p>
          <a:p>
            <a:r>
              <a:rPr lang="en-US" b="1" dirty="0"/>
              <a:t>Water bodies</a:t>
            </a:r>
            <a:r>
              <a:rPr lang="en-US" dirty="0"/>
              <a:t> exhibit relatively lower high-risk probability.</a:t>
            </a:r>
          </a:p>
          <a:p>
            <a:r>
              <a:rPr lang="en-US" b="1" dirty="0"/>
              <a:t>Insight:</a:t>
            </a:r>
            <a:r>
              <a:rPr lang="en-US" dirty="0"/>
              <a:t> </a:t>
            </a:r>
            <a:r>
              <a:rPr lang="en-US" b="1" dirty="0"/>
              <a:t>Landcover type plays a crucial role</a:t>
            </a:r>
            <a:r>
              <a:rPr lang="en-US" dirty="0"/>
              <a:t> in determining flood severity</a:t>
            </a:r>
          </a:p>
        </p:txBody>
      </p:sp>
    </p:spTree>
    <p:extLst>
      <p:ext uri="{BB962C8B-B14F-4D97-AF65-F5344CB8AC3E}">
        <p14:creationId xmlns:p14="http://schemas.microsoft.com/office/powerpoint/2010/main" val="339273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FEA5-6142-9773-D7D0-1725E2C1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83BB-5231-A5A6-0D83-13109BB3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0FF1-C6CC-B976-7A10-AFD5958C5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6️⃣ </a:t>
            </a:r>
            <a:r>
              <a:rPr lang="en-US" b="1" dirty="0">
                <a:solidFill>
                  <a:srgbClr val="FF0000"/>
                </a:solidFill>
              </a:rPr>
              <a:t>Date-wise Rainfall Variability</a:t>
            </a:r>
          </a:p>
          <a:p>
            <a:r>
              <a:rPr lang="en-US" dirty="0"/>
              <a:t>The daily rainfall trend displays </a:t>
            </a:r>
            <a:r>
              <a:rPr lang="en-US" b="1" dirty="0"/>
              <a:t>frequent spikes and fluctuations</a:t>
            </a:r>
            <a:r>
              <a:rPr lang="en-US" dirty="0"/>
              <a:t>.</a:t>
            </a:r>
          </a:p>
          <a:p>
            <a:r>
              <a:rPr lang="en-US" dirty="0"/>
              <a:t>Sudden increases indicate a higher chance of </a:t>
            </a:r>
            <a:r>
              <a:rPr lang="en-US" b="1" dirty="0"/>
              <a:t>short-duration flood events</a:t>
            </a:r>
            <a:r>
              <a:rPr lang="en-US" dirty="0"/>
              <a:t>.</a:t>
            </a:r>
          </a:p>
          <a:p>
            <a:r>
              <a:rPr lang="en-US" b="1" dirty="0"/>
              <a:t>Insight:</a:t>
            </a:r>
            <a:r>
              <a:rPr lang="en-US" dirty="0"/>
              <a:t> Continuous monitoring is essential for timely flood prediction.</a:t>
            </a:r>
          </a:p>
        </p:txBody>
      </p:sp>
    </p:spTree>
    <p:extLst>
      <p:ext uri="{BB962C8B-B14F-4D97-AF65-F5344CB8AC3E}">
        <p14:creationId xmlns:p14="http://schemas.microsoft.com/office/powerpoint/2010/main" val="240941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DED1-54FF-040A-B38D-759C37EF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3F7D-CFF7-7CEB-C5D4-11F7A330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6485E-6CD5-88A2-A8FD-B564F2261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</a:t>
            </a:r>
            <a:r>
              <a:rPr lang="en-US" b="1" dirty="0">
                <a:solidFill>
                  <a:srgbClr val="FF0000"/>
                </a:solidFill>
              </a:rPr>
              <a:t>1. Early Warning and Monitoring Systems</a:t>
            </a:r>
          </a:p>
          <a:p>
            <a:r>
              <a:rPr lang="en-US" dirty="0"/>
              <a:t>Implement </a:t>
            </a:r>
            <a:r>
              <a:rPr lang="en-US" b="1" dirty="0"/>
              <a:t>real-time rainfall and water flow monitoring</a:t>
            </a:r>
            <a:r>
              <a:rPr lang="en-US" dirty="0"/>
              <a:t>, especially during </a:t>
            </a:r>
            <a:r>
              <a:rPr lang="en-US" b="1" dirty="0"/>
              <a:t>May–July</a:t>
            </a:r>
            <a:r>
              <a:rPr lang="en-US" dirty="0"/>
              <a:t>.</a:t>
            </a:r>
          </a:p>
          <a:p>
            <a:r>
              <a:rPr lang="en-US" dirty="0"/>
              <a:t>Deploy </a:t>
            </a:r>
            <a:r>
              <a:rPr lang="en-US" b="1" dirty="0"/>
              <a:t>automated flood alerts</a:t>
            </a:r>
            <a:r>
              <a:rPr lang="en-US" dirty="0"/>
              <a:t> in High and Very High risk zones.</a:t>
            </a:r>
          </a:p>
        </p:txBody>
      </p:sp>
    </p:spTree>
    <p:extLst>
      <p:ext uri="{BB962C8B-B14F-4D97-AF65-F5344CB8AC3E}">
        <p14:creationId xmlns:p14="http://schemas.microsoft.com/office/powerpoint/2010/main" val="305076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17D3-2585-0C67-FA97-28B58A71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F44F-0A30-DCEF-A180-983FBC8E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05D4-AE77-BD1D-4119-F6A448BDD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</a:t>
            </a:r>
            <a:r>
              <a:rPr lang="en-US" b="1" dirty="0">
                <a:solidFill>
                  <a:srgbClr val="FF0000"/>
                </a:solidFill>
              </a:rPr>
              <a:t>2. Infrastructure Development</a:t>
            </a:r>
          </a:p>
          <a:p>
            <a:r>
              <a:rPr lang="en-US" dirty="0"/>
              <a:t>Focus on </a:t>
            </a:r>
            <a:r>
              <a:rPr lang="en-US" b="1" dirty="0"/>
              <a:t>low-elevation, high-risk areas</a:t>
            </a:r>
            <a:r>
              <a:rPr lang="en-US" dirty="0"/>
              <a:t> by improving:</a:t>
            </a:r>
          </a:p>
          <a:p>
            <a:pPr lvl="1"/>
            <a:r>
              <a:rPr lang="en-US" dirty="0"/>
              <a:t>Drainage systems</a:t>
            </a:r>
          </a:p>
          <a:p>
            <a:pPr lvl="1"/>
            <a:r>
              <a:rPr lang="en-US" dirty="0"/>
              <a:t>River embankments</a:t>
            </a:r>
          </a:p>
          <a:p>
            <a:pPr lvl="1"/>
            <a:r>
              <a:rPr lang="en-US" dirty="0"/>
              <a:t>Rainwater diversion channels</a:t>
            </a:r>
          </a:p>
          <a:p>
            <a:r>
              <a:rPr lang="en-US" dirty="0"/>
              <a:t>Priority should be given to </a:t>
            </a:r>
            <a:r>
              <a:rPr lang="en-US" b="1" dirty="0"/>
              <a:t>urban and agricultural regions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5786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63FB-F40B-D475-4E1A-E3D5C416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3F940-87C8-7AEE-A291-B30CC1CB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FF70D-CFA1-075F-849B-1A81C9F3E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</a:t>
            </a:r>
            <a:r>
              <a:rPr lang="en-US" b="1" dirty="0">
                <a:solidFill>
                  <a:srgbClr val="FF0000"/>
                </a:solidFill>
              </a:rPr>
              <a:t>3. Land Use and Environmental Management</a:t>
            </a:r>
          </a:p>
          <a:p>
            <a:r>
              <a:rPr lang="en-US" dirty="0"/>
              <a:t>Regulate deforestation in </a:t>
            </a:r>
            <a:r>
              <a:rPr lang="en-US" b="1" dirty="0"/>
              <a:t>forest and agricultural zones</a:t>
            </a:r>
            <a:r>
              <a:rPr lang="en-US" dirty="0"/>
              <a:t>.</a:t>
            </a:r>
          </a:p>
          <a:p>
            <a:r>
              <a:rPr lang="en-US" dirty="0"/>
              <a:t>Promote </a:t>
            </a:r>
            <a:r>
              <a:rPr lang="en-US" b="1" dirty="0"/>
              <a:t>flood-resistant crops</a:t>
            </a:r>
            <a:r>
              <a:rPr lang="en-US" dirty="0"/>
              <a:t> and sustainable land management practices.</a:t>
            </a:r>
          </a:p>
          <a:p>
            <a:r>
              <a:rPr lang="en-US" dirty="0"/>
              <a:t>Restrict </a:t>
            </a:r>
            <a:r>
              <a:rPr lang="en-US" b="1" dirty="0"/>
              <a:t>unplanned construction</a:t>
            </a:r>
            <a:r>
              <a:rPr lang="en-US" dirty="0"/>
              <a:t> in flood-prone areas.</a:t>
            </a:r>
          </a:p>
        </p:txBody>
      </p:sp>
    </p:spTree>
    <p:extLst>
      <p:ext uri="{BB962C8B-B14F-4D97-AF65-F5344CB8AC3E}">
        <p14:creationId xmlns:p14="http://schemas.microsoft.com/office/powerpoint/2010/main" val="1390268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D72E2-1D46-2F3B-88A4-535D394D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B606-5E64-4493-DC2F-2BDE8699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A0B0D-D3DD-8F1A-01A9-DE8F5C52C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</a:t>
            </a:r>
            <a:r>
              <a:rPr lang="en-US" b="1" dirty="0">
                <a:solidFill>
                  <a:srgbClr val="FF0000"/>
                </a:solidFill>
              </a:rPr>
              <a:t>4. Disaster Preparedness and Policy Planning</a:t>
            </a:r>
          </a:p>
          <a:p>
            <a:r>
              <a:rPr lang="en-US" dirty="0"/>
              <a:t>Develop </a:t>
            </a:r>
            <a:r>
              <a:rPr lang="en-US" b="1" dirty="0"/>
              <a:t>district-wise flood preparedness plans</a:t>
            </a:r>
            <a:r>
              <a:rPr lang="en-US" dirty="0"/>
              <a:t> for the month of July.</a:t>
            </a:r>
          </a:p>
          <a:p>
            <a:r>
              <a:rPr lang="en-US" dirty="0"/>
              <a:t>Establish:</a:t>
            </a:r>
          </a:p>
          <a:p>
            <a:pPr lvl="1"/>
            <a:r>
              <a:rPr lang="en-US" dirty="0"/>
              <a:t>Emergency shelters</a:t>
            </a:r>
          </a:p>
          <a:p>
            <a:pPr lvl="1"/>
            <a:r>
              <a:rPr lang="en-US" dirty="0"/>
              <a:t>Evacuation routes</a:t>
            </a:r>
          </a:p>
          <a:p>
            <a:pPr lvl="1"/>
            <a:r>
              <a:rPr lang="en-US" dirty="0"/>
              <a:t>Community awareness and training programs</a:t>
            </a:r>
          </a:p>
        </p:txBody>
      </p:sp>
    </p:spTree>
    <p:extLst>
      <p:ext uri="{BB962C8B-B14F-4D97-AF65-F5344CB8AC3E}">
        <p14:creationId xmlns:p14="http://schemas.microsoft.com/office/powerpoint/2010/main" val="3049407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71FC0-C4BF-4E7B-CED1-0453EC2E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4ED6-A657-E19E-5D44-6C0CCDD4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9EC3-B360-B8AD-0C18-FBA840731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</a:t>
            </a:r>
            <a:r>
              <a:rPr lang="en-US" b="1" dirty="0">
                <a:solidFill>
                  <a:srgbClr val="FF0000"/>
                </a:solidFill>
              </a:rPr>
              <a:t>5. Data Enhancement for Better Prediction</a:t>
            </a:r>
          </a:p>
          <a:p>
            <a:r>
              <a:rPr lang="en-US" dirty="0"/>
              <a:t>Future models can be improved by including:</a:t>
            </a:r>
          </a:p>
          <a:p>
            <a:pPr lvl="1"/>
            <a:r>
              <a:rPr lang="en-US" dirty="0"/>
              <a:t>Water depth</a:t>
            </a:r>
          </a:p>
          <a:p>
            <a:pPr lvl="1"/>
            <a:r>
              <a:rPr lang="en-US" dirty="0"/>
              <a:t>Soil moisture levels</a:t>
            </a:r>
          </a:p>
          <a:p>
            <a:pPr lvl="1"/>
            <a:r>
              <a:rPr lang="en-US" dirty="0"/>
              <a:t>River discharge data</a:t>
            </a:r>
          </a:p>
          <a:p>
            <a:r>
              <a:rPr lang="en-US" dirty="0"/>
              <a:t>This will enhance </a:t>
            </a:r>
            <a:r>
              <a:rPr lang="en-US" b="1" dirty="0"/>
              <a:t>prediction accuracy and reliability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8360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relationship between rainfall &amp; river level</a:t>
            </a:r>
          </a:p>
          <a:p>
            <a:r>
              <a:t>ML models provide reliable predictions</a:t>
            </a:r>
          </a:p>
          <a:p>
            <a:r>
              <a:t>Spatial analysis highlights flood hotspots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Multi-source data integration</a:t>
            </a:r>
          </a:p>
          <a:p>
            <a:r>
              <a:t>Handling noisy real-world data</a:t>
            </a:r>
          </a:p>
          <a:p>
            <a:r>
              <a:t>Dynamic weather patterns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flood risk prediction system</a:t>
            </a:r>
          </a:p>
          <a:p>
            <a:r>
              <a:t>Combines analytics, ML, GIS &amp; dashboards</a:t>
            </a:r>
          </a:p>
          <a:p>
            <a:r>
              <a:t>Supports disaster preparedness &amp; planning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68</TotalTime>
  <Words>837</Words>
  <Application>Microsoft Office PowerPoint</Application>
  <PresentationFormat>On-screen Show (4:3)</PresentationFormat>
  <Paragraphs>145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Bookman Old Style</vt:lpstr>
      <vt:lpstr>Rockwell</vt:lpstr>
      <vt:lpstr>Damask</vt:lpstr>
      <vt:lpstr>Flood Risk Prediction (Week 6)</vt:lpstr>
      <vt:lpstr>Introduction</vt:lpstr>
      <vt:lpstr>Objectives</vt:lpstr>
      <vt:lpstr>Data Sources</vt:lpstr>
      <vt:lpstr>Tools &amp; Technologies</vt:lpstr>
      <vt:lpstr>Methodology</vt:lpstr>
      <vt:lpstr>Exploratory Data Analysis</vt:lpstr>
      <vt:lpstr>PowerPoint Presentation</vt:lpstr>
      <vt:lpstr>PowerPoint Presentation</vt:lpstr>
      <vt:lpstr>PowerPoint Presentation</vt:lpstr>
      <vt:lpstr>Feature Engineering</vt:lpstr>
      <vt:lpstr>Machine Learning Models</vt:lpstr>
      <vt:lpstr>Dashboard &amp; Visualization</vt:lpstr>
      <vt:lpstr>Count Wise Risk Category</vt:lpstr>
      <vt:lpstr>Count Wise Elevation Category</vt:lpstr>
      <vt:lpstr>Rainfall vs Flood Risk Level</vt:lpstr>
      <vt:lpstr>Three-Day Cumulative Rainfall Distribution Across Top 5 High-Risk Cities </vt:lpstr>
      <vt:lpstr>Average Monthly Rainfall Trend by Flood Risk Category</vt:lpstr>
      <vt:lpstr>Landcover Class vs Flood Risk</vt:lpstr>
      <vt:lpstr>High Flood Risk by Month</vt:lpstr>
      <vt:lpstr>Date Wise Trend As Per Average Rainfall</vt:lpstr>
      <vt:lpstr>Count of Days as per Rainfall Category(July Month)</vt:lpstr>
      <vt:lpstr>Jan–Jun vs July Rainfall Comparison</vt:lpstr>
      <vt:lpstr>Dashboard</vt:lpstr>
      <vt:lpstr>Dashboard</vt:lpstr>
      <vt:lpstr>Key Insights</vt:lpstr>
      <vt:lpstr>Key Insights</vt:lpstr>
      <vt:lpstr>Key Insights</vt:lpstr>
      <vt:lpstr>Key Insights</vt:lpstr>
      <vt:lpstr>Key Insights</vt:lpstr>
      <vt:lpstr>Key Insights</vt:lpstr>
      <vt:lpstr>RECOMMENDATIONS</vt:lpstr>
      <vt:lpstr>RECOMMENDATIONS</vt:lpstr>
      <vt:lpstr>RECOMMENDATIONS</vt:lpstr>
      <vt:lpstr>RECOMMENDATIONS</vt:lpstr>
      <vt:lpstr>RECOMMENDATIONS</vt:lpstr>
      <vt:lpstr>Results &amp; Findings</vt:lpstr>
      <vt:lpstr>Challenges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Soumyadeep</dc:creator>
  <cp:keywords/>
  <dc:description>generated using python-pptx</dc:description>
  <cp:lastModifiedBy>SOUMYADEEP BHATTACHARYYA</cp:lastModifiedBy>
  <cp:revision>3</cp:revision>
  <dcterms:created xsi:type="dcterms:W3CDTF">2013-01-27T09:14:16Z</dcterms:created>
  <dcterms:modified xsi:type="dcterms:W3CDTF">2025-12-16T12:46:35Z</dcterms:modified>
  <cp:category/>
</cp:coreProperties>
</file>